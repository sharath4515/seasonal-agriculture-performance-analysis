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1" d="100"/>
          <a:sy n="71" d="100"/>
        </p:scale>
        <p:origin x="612" y="6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70011" y="3586056"/>
            <a:ext cx="5298142" cy="861497"/>
          </a:xfrm>
        </p:spPr>
        <p:txBody>
          <a:bodyPr vert="horz" wrap="square" lIns="91440" tIns="45720" rIns="91440" bIns="45720" rtlCol="0" anchor="t">
            <a:normAutofit/>
          </a:bodyPr>
          <a:lstStyle/>
          <a:p>
            <a:pPr algn="l"/>
            <a:r>
              <a:rPr lang="en-US" sz="1600" b="0" dirty="0" err="1">
                <a:solidFill>
                  <a:srgbClr val="1E1E1E"/>
                </a:solidFill>
              </a:rPr>
              <a:t>Tanagala</a:t>
            </a:r>
            <a:r>
              <a:rPr lang="en-US" sz="1600" b="0" dirty="0">
                <a:solidFill>
                  <a:srgbClr val="1E1E1E"/>
                </a:solidFill>
              </a:rPr>
              <a:t> Sharath Kumar Reddy</a:t>
            </a:r>
            <a:r>
              <a:rPr sz="1600" b="0" dirty="0">
                <a:solidFill>
                  <a:srgbClr val="1E1E1E"/>
                </a:solidFill>
              </a:rPr>
              <a:t>
</a:t>
            </a:r>
            <a:r>
              <a:rPr lang="en-US" sz="1600" b="0" dirty="0" err="1">
                <a:solidFill>
                  <a:srgbClr val="1E1E1E"/>
                </a:solidFill>
              </a:rPr>
              <a:t>G.Pullaiah</a:t>
            </a:r>
            <a:r>
              <a:rPr lang="en-US" sz="1600" b="0" dirty="0">
                <a:solidFill>
                  <a:srgbClr val="1E1E1E"/>
                </a:solidFill>
              </a:rPr>
              <a:t> College Of Engineering and Technology</a:t>
            </a:r>
            <a:endParaRPr lang="en-IN" sz="16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726701"/>
            <a:ext cx="4998720" cy="861497"/>
          </a:xfrm>
        </p:spPr>
        <p:txBody>
          <a:bodyPr wrap="square">
            <a:normAutofit fontScale="90000"/>
          </a:bodyPr>
          <a:lstStyle/>
          <a:p>
            <a:pPr algn="l"/>
            <a:r>
              <a:rPr sz="2800" b="1" dirty="0">
                <a:solidFill>
                  <a:srgbClr val="225799"/>
                </a:solidFill>
              </a:rPr>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267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88258" y="4445411"/>
            <a:ext cx="4612342" cy="338554"/>
          </a:xfrm>
          <a:prstGeom prst="rect">
            <a:avLst/>
          </a:prstGeom>
          <a:noFill/>
        </p:spPr>
        <p:txBody>
          <a:bodyPr wrap="square" rtlCol="0">
            <a:spAutoFit/>
          </a:bodyPr>
          <a:lstStyle/>
          <a:p>
            <a:pPr algn="l"/>
            <a:r>
              <a:rPr sz="1600" dirty="0">
                <a:solidFill>
                  <a:srgbClr val="1E1E1E"/>
                </a:solidFill>
              </a:rPr>
              <a:t>AICTE STU ID: </a:t>
            </a:r>
            <a:r>
              <a:rPr lang="en-IN" sz="1600" dirty="0"/>
              <a:t>STU672cb1436a2c11730982211</a:t>
            </a:r>
            <a:endParaRPr sz="1600" b="1" dirty="0">
              <a:solidFill>
                <a:srgbClr val="1E1E1E"/>
              </a:solidFill>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537883" y="1573306"/>
            <a:ext cx="6575612" cy="3630706"/>
          </a:xfrm>
        </p:spPr>
        <p:txBody>
          <a:bodyPr vert="horz" wrap="square" lIns="91440" tIns="45720" rIns="91440" bIns="45720" rtlCol="0" anchor="t">
            <a:normAutofit/>
          </a:bodyPr>
          <a:lstStyle/>
          <a:p>
            <a:r>
              <a:rPr lang="en-US" sz="16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a:t>
            </a:r>
          </a:p>
          <a:p>
            <a:r>
              <a:rPr lang="en-US" sz="1600" dirty="0"/>
              <a:t>The problem is to analyze the given agricultural dataset and investigate seasonal differences in agricultural performance by identifying meaningful patterns, trends, relationships and variations within the available data</a:t>
            </a:r>
            <a:endParaRPr lang="en-IN" sz="16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675957" y="550417"/>
            <a:ext cx="6995604" cy="790111"/>
          </a:xfrm>
        </p:spPr>
        <p:txBody>
          <a:bodyPr wrap="square">
            <a:normAutofit fontScale="90000"/>
          </a:bodyPr>
          <a:lstStyle/>
          <a:p>
            <a:pPr algn="l"/>
            <a:r>
              <a:rPr b="1">
                <a:solidFill>
                  <a:srgbClr val="225799"/>
                </a:solidFill>
              </a:rPr>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wrap="square">
            <a:normAutofit fontScale="90000"/>
          </a:bodyPr>
          <a:lstStyle/>
          <a:p>
            <a:pPr algn="l"/>
            <a:r>
              <a:rPr sz="1800" b="0" dirty="0">
                <a:solidFill>
                  <a:srgbClr val="1E1E1E"/>
                </a:solidFill>
              </a:rPr>
              <a:t>The project uses data visualization and exploratory analysis to study how agricultural performance changes across seasons. The workflow includes data preparation, descriptive analysis, seasonal comparison, visual storytelling and insight generation.
The final output is designed to help users understand agricultural trends quickly and support evidence-based planning.</a:t>
            </a:r>
            <a:endParaRPr lang="en-IN"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wrap="square">
            <a:normAutofit/>
          </a:bodyPr>
          <a:lstStyle/>
          <a:p>
            <a:pPr algn="just">
              <a:lnSpc>
                <a:spcPct val="150000"/>
              </a:lnSpc>
              <a:spcAft>
                <a:spcPts val="800"/>
              </a:spcAft>
              <a:defRPr sz="1700">
                <a:solidFill>
                  <a:srgbClr val="1E1E1E"/>
                </a:solidFill>
              </a:defRPr>
            </a:pPr>
            <a:r>
              <a:rPr sz="1600" dirty="0"/>
              <a:t>Farmers and agricultural producers - compare seasonal performance and identify favorable conditions</a:t>
            </a:r>
            <a:endParaRPr lang="en-IN" sz="1600" dirty="0"/>
          </a:p>
          <a:p>
            <a:pPr>
              <a:spcAft>
                <a:spcPts val="800"/>
              </a:spcAft>
              <a:defRPr sz="1700">
                <a:solidFill>
                  <a:srgbClr val="1E1E1E"/>
                </a:solidFill>
              </a:defRPr>
            </a:pPr>
            <a:r>
              <a:rPr sz="1600" dirty="0"/>
              <a:t>Agricultural officers and extension teams - communicate trends and prioritize interventions</a:t>
            </a:r>
          </a:p>
          <a:p>
            <a:pPr>
              <a:spcAft>
                <a:spcPts val="800"/>
              </a:spcAft>
              <a:defRPr sz="1700">
                <a:solidFill>
                  <a:srgbClr val="1E1E1E"/>
                </a:solidFill>
              </a:defRPr>
            </a:pPr>
            <a:r>
              <a:rPr sz="1600" dirty="0"/>
              <a:t>Researchers and students - explore relationships among crops, seasons and performance measures</a:t>
            </a:r>
          </a:p>
          <a:p>
            <a:pPr>
              <a:spcAft>
                <a:spcPts val="800"/>
              </a:spcAft>
              <a:defRPr sz="1700">
                <a:solidFill>
                  <a:srgbClr val="1E1E1E"/>
                </a:solidFill>
              </a:defRPr>
            </a:pPr>
            <a:r>
              <a:rPr sz="1600" dirty="0"/>
              <a:t>Policy makers and planners - support data-driven resource allocation and agricultural programs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wrap="square">
            <a:normAutofit fontScale="90000"/>
          </a:bodyPr>
          <a:lstStyle/>
          <a:p>
            <a:pPr algn="l"/>
            <a:r>
              <a:rPr b="1">
                <a:solidFill>
                  <a:srgbClr val="225799"/>
                </a:solidFill>
              </a:rPr>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358154" y="1446129"/>
            <a:ext cx="8060166" cy="5243448"/>
          </a:xfrm>
        </p:spPr>
        <p:txBody>
          <a:bodyPr wrap="square">
            <a:normAutofit/>
          </a:bodyPr>
          <a:lstStyle/>
          <a:p>
            <a:pPr>
              <a:lnSpc>
                <a:spcPct val="150000"/>
              </a:lnSpc>
              <a:spcAft>
                <a:spcPts val="800"/>
              </a:spcAft>
              <a:defRPr sz="1800">
                <a:solidFill>
                  <a:srgbClr val="1E1E1E"/>
                </a:solidFill>
              </a:defRPr>
            </a:pPr>
            <a:r>
              <a:rPr sz="1600" dirty="0"/>
              <a:t>Python for data preparation and analysis</a:t>
            </a:r>
            <a:endParaRPr lang="en-IN" sz="1600" dirty="0"/>
          </a:p>
          <a:p>
            <a:pPr>
              <a:spcAft>
                <a:spcPts val="800"/>
              </a:spcAft>
              <a:defRPr sz="1800">
                <a:solidFill>
                  <a:srgbClr val="1E1E1E"/>
                </a:solidFill>
              </a:defRPr>
            </a:pPr>
            <a:r>
              <a:rPr sz="1600" dirty="0"/>
              <a:t>Pandas and NumPy for data wrangling</a:t>
            </a:r>
          </a:p>
          <a:p>
            <a:pPr>
              <a:spcAft>
                <a:spcPts val="800"/>
              </a:spcAft>
              <a:defRPr sz="1800">
                <a:solidFill>
                  <a:srgbClr val="1E1E1E"/>
                </a:solidFill>
              </a:defRPr>
            </a:pPr>
            <a:r>
              <a:rPr sz="1600" dirty="0"/>
              <a:t>Matplotlib and Seaborn for visual exploration</a:t>
            </a:r>
          </a:p>
          <a:p>
            <a:pPr>
              <a:spcAft>
                <a:spcPts val="800"/>
              </a:spcAft>
              <a:defRPr sz="1800">
                <a:solidFill>
                  <a:srgbClr val="1E1E1E"/>
                </a:solidFill>
              </a:defRPr>
            </a:pPr>
            <a:r>
              <a:rPr sz="1600" dirty="0" err="1"/>
              <a:t>Jupyter</a:t>
            </a:r>
            <a:r>
              <a:rPr sz="1600" dirty="0"/>
              <a:t> Notebook for reproducible analysis</a:t>
            </a:r>
          </a:p>
          <a:p>
            <a:pPr>
              <a:spcAft>
                <a:spcPts val="800"/>
              </a:spcAft>
              <a:defRPr sz="1800">
                <a:solidFill>
                  <a:srgbClr val="1E1E1E"/>
                </a:solidFill>
              </a:defRPr>
            </a:pPr>
            <a:r>
              <a:rPr sz="1600" dirty="0"/>
              <a:t>PowerPoint for communicating insights and recommendations</a:t>
            </a:r>
          </a:p>
          <a:p>
            <a:pPr>
              <a:spcAft>
                <a:spcPts val="800"/>
              </a:spcAft>
              <a:defRPr sz="1800">
                <a:solidFill>
                  <a:srgbClr val="1E1E1E"/>
                </a:solidFill>
              </a:defRPr>
            </a:pPr>
            <a:r>
              <a:rPr sz="1600" dirty="0"/>
              <a:t>GitHub for version control and project sharing</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wrap="square">
            <a:normAutofit fontScale="90000"/>
          </a:bodyPr>
          <a:lstStyle/>
          <a:p>
            <a:pPr algn="l"/>
            <a:r>
              <a:rPr b="1">
                <a:solidFill>
                  <a:srgbClr val="225799"/>
                </a:solidFill>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261344" y="370589"/>
            <a:ext cx="4445127" cy="830997"/>
          </a:xfrm>
        </p:spPr>
        <p:txBody>
          <a:bodyPr wrap="square">
            <a:normAutofit/>
          </a:bodyPr>
          <a:lstStyle/>
          <a:p>
            <a:r>
              <a:rPr lang="en-IN" dirty="0">
                <a:solidFill>
                  <a:srgbClr val="225799"/>
                </a:solidFill>
              </a:rPr>
              <a:t>Results</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261344" y="1317812"/>
            <a:ext cx="8890253" cy="5015753"/>
          </a:xfrm>
          <a:prstGeom prst="rect">
            <a:avLst/>
          </a:prstGeom>
        </p:spPr>
        <p:txBody>
          <a:bodyPr vert="horz" wrap="square" lIns="91440" tIns="45720" rIns="91440" bIns="45720" rtlCol="0">
            <a:normAutofit fontScale="775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spcAft>
                <a:spcPts val="800"/>
              </a:spcAft>
              <a:defRPr sz="1700">
                <a:solidFill>
                  <a:srgbClr val="1E1E1E"/>
                </a:solidFill>
              </a:defRPr>
            </a:pPr>
            <a:r>
              <a:rPr lang="en-US" sz="2000" dirty="0"/>
              <a:t>This project analyzed agricultural data from Kharif, Rabi, and Zaid seasons to identify seasonal patterns, relationships, variations, and differences in agricultural performance. The analysis showed clear descriptive differences in environmental conditions, resource usage, productivity, and economic outcomes across seasons. Kharif recorded the highest average yield and profit, while Zaid recorded the lowest average yield and negative average profit. Environmental analysis showed that Kharif had higher rainfall, humidity, and soil moisture, whereas Zaid experienced lower rainfall and soil moisture along with higher temperature and sunlight. Zaid also recorded the highest average water usage. Crop-wise analysis showed that all eight crop categories had their highest observed average yield during Kharif and lowest during Zaid. However, state-level analysis demonstrated that seasonal patterns can vary substantially across regions, with Punjab performing best during Rabi and Karnataka performing best during Zaid. Correlation analysis identified important associations among productivity, production, revenue, profit, and water efficiency. However, these relationships were interpreted carefully because correlation does not establish causation. Statistical testing provided an important distinction between descriptive patterns and statistically supported conclusions. One-way ANOVA did not identify a statistically significant difference in mean yield across seasons. In contrast, profit showed a statistically significant difference across seasons. Tukey's HSD test further showed that each pair of seasons differed significantly in mean profit. Overall, the analysis indicates that seasonal differences are particularly important when considering agricultural profitability. The findings highlight the importance of efficient resource management, region-specific planning, water-use efficiency, and further investigation of the factors contributing to seasonal economic performance.</a:t>
            </a:r>
            <a:endParaRPr lang="en-GB" sz="20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6" y="370589"/>
            <a:ext cx="5420043" cy="830997"/>
          </a:xfrm>
        </p:spPr>
        <p:txBody>
          <a:bodyPr wrap="square">
            <a:normAutofit/>
          </a:bodyPr>
          <a:lstStyle/>
          <a:p>
            <a:pPr algn="l"/>
            <a:r>
              <a:rPr lang="en-IN" dirty="0">
                <a:solidFill>
                  <a:srgbClr val="225799"/>
                </a:solidFill>
              </a:rPr>
              <a:t>Results</a:t>
            </a:r>
            <a:endParaRPr lang="en-IN"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578224" y="2218765"/>
            <a:ext cx="8673352" cy="3429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spcAft>
                <a:spcPts val="800"/>
              </a:spcAft>
              <a:defRPr sz="1700">
                <a:solidFill>
                  <a:srgbClr val="1E1E1E"/>
                </a:solidFill>
              </a:defRPr>
            </a:pPr>
            <a:endParaRPr lang="en-GB" sz="2000" dirty="0"/>
          </a:p>
        </p:txBody>
      </p:sp>
      <p:pic>
        <p:nvPicPr>
          <p:cNvPr id="3" name="Picture 2">
            <a:extLst>
              <a:ext uri="{FF2B5EF4-FFF2-40B4-BE49-F238E27FC236}">
                <a16:creationId xmlns:a16="http://schemas.microsoft.com/office/drawing/2014/main" id="{1B188D93-B169-4FB4-A71A-9D3D18F543DC}"/>
              </a:ext>
            </a:extLst>
          </p:cNvPr>
          <p:cNvPicPr>
            <a:picLocks noChangeAspect="1"/>
          </p:cNvPicPr>
          <p:nvPr/>
        </p:nvPicPr>
        <p:blipFill>
          <a:blip r:embed="rId3"/>
          <a:stretch>
            <a:fillRect/>
          </a:stretch>
        </p:blipFill>
        <p:spPr>
          <a:xfrm>
            <a:off x="201706" y="1425387"/>
            <a:ext cx="8350623" cy="424198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7069549" cy="830997"/>
          </a:xfrm>
        </p:spPr>
        <p:txBody>
          <a:bodyPr wrap="square">
            <a:normAutofit/>
          </a:bodyPr>
          <a:lstStyle/>
          <a:p>
            <a:pPr algn="l"/>
            <a:r>
              <a:rPr lang="en-IN" dirty="0">
                <a:solidFill>
                  <a:srgbClr val="225799"/>
                </a:solidFill>
              </a:rPr>
              <a:t>Results</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979350"/>
            <a:ext cx="8769230" cy="28993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spcAft>
                <a:spcPts val="800"/>
              </a:spcAft>
              <a:defRPr sz="1700">
                <a:solidFill>
                  <a:srgbClr val="1E1E1E"/>
                </a:solidFill>
              </a:defRPr>
            </a:pPr>
            <a:endParaRPr lang="en-GB" sz="2000" dirty="0"/>
          </a:p>
        </p:txBody>
      </p:sp>
      <p:pic>
        <p:nvPicPr>
          <p:cNvPr id="8" name="Picture 7">
            <a:extLst>
              <a:ext uri="{FF2B5EF4-FFF2-40B4-BE49-F238E27FC236}">
                <a16:creationId xmlns:a16="http://schemas.microsoft.com/office/drawing/2014/main" id="{ABD43ACB-31FA-43DE-99EB-AFC1DA686F8C}"/>
              </a:ext>
            </a:extLst>
          </p:cNvPr>
          <p:cNvPicPr>
            <a:picLocks noChangeAspect="1"/>
          </p:cNvPicPr>
          <p:nvPr/>
        </p:nvPicPr>
        <p:blipFill>
          <a:blip r:embed="rId3"/>
          <a:stretch>
            <a:fillRect/>
          </a:stretch>
        </p:blipFill>
        <p:spPr>
          <a:xfrm>
            <a:off x="320982" y="1190625"/>
            <a:ext cx="9223068" cy="447675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wrap="square">
            <a:normAutofit/>
          </a:bodyPr>
          <a:lstStyle/>
          <a:p>
            <a:pPr algn="l"/>
            <a:r>
              <a:rPr lang="en-IN" dirty="0">
                <a:solidFill>
                  <a:srgbClr val="225799"/>
                </a:solidFill>
              </a:rPr>
              <a:t>Results</a:t>
            </a:r>
            <a:endParaRPr lang="en-IN" dirty="0"/>
          </a:p>
        </p:txBody>
      </p:sp>
      <p:pic>
        <p:nvPicPr>
          <p:cNvPr id="9" name="Picture 8">
            <a:extLst>
              <a:ext uri="{FF2B5EF4-FFF2-40B4-BE49-F238E27FC236}">
                <a16:creationId xmlns:a16="http://schemas.microsoft.com/office/drawing/2014/main" id="{A300D947-4336-4735-8237-CAE3FE2F3278}"/>
              </a:ext>
            </a:extLst>
          </p:cNvPr>
          <p:cNvPicPr>
            <a:picLocks noChangeAspect="1"/>
          </p:cNvPicPr>
          <p:nvPr/>
        </p:nvPicPr>
        <p:blipFill>
          <a:blip r:embed="rId3"/>
          <a:stretch>
            <a:fillRect/>
          </a:stretch>
        </p:blipFill>
        <p:spPr>
          <a:xfrm>
            <a:off x="536735" y="1478616"/>
            <a:ext cx="8402223" cy="228656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5012149" cy="830997"/>
          </a:xfrm>
        </p:spPr>
        <p:txBody>
          <a:bodyPr wrap="square">
            <a:normAutofit/>
          </a:bodyPr>
          <a:lstStyle/>
          <a:p>
            <a:pPr algn="l"/>
            <a:r>
              <a:rPr lang="en-IN" dirty="0">
                <a:solidFill>
                  <a:schemeClr val="accent2">
                    <a:lumMod val="75000"/>
                  </a:schemeClr>
                </a:solidFill>
              </a:rPr>
              <a:t>Results</a:t>
            </a:r>
          </a:p>
        </p:txBody>
      </p:sp>
      <p:pic>
        <p:nvPicPr>
          <p:cNvPr id="9" name="Picture 8">
            <a:extLst>
              <a:ext uri="{FF2B5EF4-FFF2-40B4-BE49-F238E27FC236}">
                <a16:creationId xmlns:a16="http://schemas.microsoft.com/office/drawing/2014/main" id="{AD463D64-39D9-406C-A629-952FE861AA99}"/>
              </a:ext>
            </a:extLst>
          </p:cNvPr>
          <p:cNvPicPr>
            <a:picLocks noChangeAspect="1"/>
          </p:cNvPicPr>
          <p:nvPr/>
        </p:nvPicPr>
        <p:blipFill>
          <a:blip r:embed="rId3"/>
          <a:stretch>
            <a:fillRect/>
          </a:stretch>
        </p:blipFill>
        <p:spPr>
          <a:xfrm>
            <a:off x="1" y="1201586"/>
            <a:ext cx="9345705" cy="483250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wrap="square">
            <a:normAutofit/>
          </a:bodyPr>
          <a:lstStyle/>
          <a:p>
            <a:pPr algn="l"/>
            <a:r>
              <a:rPr b="1">
                <a:solidFill>
                  <a:srgbClr val="225799"/>
                </a:solidFill>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2729" y="1290918"/>
            <a:ext cx="3341814" cy="2998693"/>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spcAft>
                <a:spcPts val="800"/>
              </a:spcAft>
              <a:defRPr sz="1700">
                <a:solidFill>
                  <a:srgbClr val="1E1E1E"/>
                </a:solidFill>
              </a:defRPr>
            </a:pPr>
            <a:endParaRPr dirty="0"/>
          </a:p>
        </p:txBody>
      </p:sp>
      <p:sp>
        <p:nvSpPr>
          <p:cNvPr id="8" name="TextBox 7">
            <a:extLst>
              <a:ext uri="{FF2B5EF4-FFF2-40B4-BE49-F238E27FC236}">
                <a16:creationId xmlns:a16="http://schemas.microsoft.com/office/drawing/2014/main" id="{EBBE4DAA-72F4-417E-9E6D-688A62FEF2C5}"/>
              </a:ext>
            </a:extLst>
          </p:cNvPr>
          <p:cNvSpPr txBox="1"/>
          <p:nvPr/>
        </p:nvSpPr>
        <p:spPr>
          <a:xfrm>
            <a:off x="309283" y="1427288"/>
            <a:ext cx="8485094" cy="2308324"/>
          </a:xfrm>
          <a:prstGeom prst="rect">
            <a:avLst/>
          </a:prstGeom>
          <a:noFill/>
        </p:spPr>
        <p:txBody>
          <a:bodyPr wrap="square">
            <a:spAutoFit/>
          </a:bodyPr>
          <a:lstStyle/>
          <a:p>
            <a:r>
              <a:rPr lang="en-IN" sz="1600" dirty="0"/>
              <a:t>The project can be extended by developing machine learning models to predict crop yield, profit, and disease/pest risk based on seasonal, environmental, soil, irrigation, and farming parameters. Real-time weather and soil sensor data can be integrated to provide dynamic recommendations to farmers. A smart crop recommendation system can also be developed to suggest suitable crops and seasons based on soil conditions, rainfall, temperature, water availability, and expected profitability. Further, the system can be enhanced with real-time market-price data to help farmers select crops with better economic returns. A user-friendly web or mobile application could eventually provide personalized farming recommendations and alerts.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wrap="square">
            <a:normAutofit/>
          </a:bodyPr>
          <a:lstStyle/>
          <a:p>
            <a:pPr algn="l"/>
            <a:r>
              <a:rPr b="1">
                <a:solidFill>
                  <a:srgbClr val="225799"/>
                </a:solidFill>
              </a:rPr>
              <a:t>GITHUB LINK</a:t>
            </a:r>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6195979" cy="584775"/>
          </a:xfrm>
          <a:prstGeom prst="rect">
            <a:avLst/>
          </a:prstGeom>
          <a:noFill/>
        </p:spPr>
        <p:txBody>
          <a:bodyPr wrap="square">
            <a:spAutoFit/>
          </a:bodyPr>
          <a:lstStyle/>
          <a:p>
            <a:pPr algn="l"/>
            <a:r>
              <a:rPr lang="en-IN" sz="1600" dirty="0"/>
              <a:t>https://github.com/Sharath4515/Seasonal-Agriculture-Performance-Analysis</a:t>
            </a:r>
            <a:endParaRPr sz="16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79273"/>
          </a:xfrm>
        </p:spPr>
        <p:txBody>
          <a:bodyPr wrap="square">
            <a:normAutofit fontScale="90000"/>
          </a:bodyPr>
          <a:lstStyle/>
          <a:p>
            <a:pPr algn="l"/>
            <a:r>
              <a:rPr b="1" dirty="0">
                <a:solidFill>
                  <a:srgbClr val="225799"/>
                </a:solidFill>
              </a:rPr>
              <a:t>VOIS COURSE COMPLETION CERTIFICATE</a:t>
            </a:r>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874059" y="2259106"/>
            <a:ext cx="6815197" cy="2286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spcAft>
                <a:spcPts val="800"/>
              </a:spcAft>
              <a:defRPr sz="1800">
                <a:solidFill>
                  <a:srgbClr val="1E1E1E"/>
                </a:solidFill>
              </a:defRPr>
            </a:pPr>
            <a:endParaRPr dirty="0"/>
          </a:p>
        </p:txBody>
      </p:sp>
      <p:pic>
        <p:nvPicPr>
          <p:cNvPr id="6" name="Picture 5">
            <a:extLst>
              <a:ext uri="{FF2B5EF4-FFF2-40B4-BE49-F238E27FC236}">
                <a16:creationId xmlns:a16="http://schemas.microsoft.com/office/drawing/2014/main" id="{7544EB8B-AE04-46CC-8EF9-D402F8546DF2}"/>
              </a:ext>
            </a:extLst>
          </p:cNvPr>
          <p:cNvPicPr>
            <a:picLocks noChangeAspect="1"/>
          </p:cNvPicPr>
          <p:nvPr/>
        </p:nvPicPr>
        <p:blipFill>
          <a:blip r:embed="rId3"/>
          <a:stretch>
            <a:fillRect/>
          </a:stretch>
        </p:blipFill>
        <p:spPr>
          <a:xfrm>
            <a:off x="497541" y="1653988"/>
            <a:ext cx="8767483" cy="481793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wrap="square" anchor="ctr">
            <a:normAutofit fontScale="90000"/>
          </a:bodyPr>
          <a:lstStyle/>
          <a:p>
            <a:pPr algn="ctr"/>
            <a:r>
              <a:rPr sz="4200" b="1">
                <a:solidFill>
                  <a:srgbClr val="225799"/>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309282" y="1927018"/>
            <a:ext cx="3896918" cy="1061672"/>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sz="1600" dirty="0" err="1">
                <a:solidFill>
                  <a:srgbClr val="1E1E1E"/>
                </a:solidFill>
              </a:rPr>
              <a:t>Tanagala</a:t>
            </a:r>
            <a:r>
              <a:rPr sz="1600" dirty="0">
                <a:solidFill>
                  <a:srgbClr val="1E1E1E"/>
                </a:solidFill>
              </a:rPr>
              <a:t> Sharath Kumar Reddy</a:t>
            </a:r>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94129" y="2354102"/>
            <a:ext cx="6001871" cy="647814"/>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US" sz="1600" dirty="0">
                <a:solidFill>
                  <a:srgbClr val="1E1E1E"/>
                </a:solidFill>
              </a:rPr>
              <a:t> </a:t>
            </a:r>
            <a:r>
              <a:rPr lang="en-US" sz="1600" dirty="0" err="1">
                <a:solidFill>
                  <a:srgbClr val="1E1E1E"/>
                </a:solidFill>
              </a:rPr>
              <a:t>G.Pullaiah</a:t>
            </a:r>
            <a:r>
              <a:rPr lang="en-US" sz="1600" dirty="0">
                <a:solidFill>
                  <a:srgbClr val="1E1E1E"/>
                </a:solidFill>
              </a:rPr>
              <a:t> College Of Engineering and Technology</a:t>
            </a:r>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215154" y="2827325"/>
            <a:ext cx="5392270" cy="601675"/>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sz="1600" dirty="0">
                <a:solidFill>
                  <a:srgbClr val="1E1E1E"/>
                </a:solidFill>
              </a:rPr>
              <a:t>[reddysharath701@gmail.com / 8897986952]</a:t>
            </a:r>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1486</TotalTime>
  <Words>719</Words>
  <Application>Microsoft Office PowerPoint</Application>
  <PresentationFormat>Widescreen</PresentationFormat>
  <Paragraphs>37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The project uses data visualization and exploratory analysis to study how agricultural performance changes across seasons. The workflow includes data preparation, descriptive analysis, seasonal comparison, visual storytelling and insight generation.
The final output is designed to help users understand agricultural trends quickly and support evidence-based planning.</vt:lpstr>
      <vt:lpstr>WHO ARE THE END USERS?</vt:lpstr>
      <vt:lpstr>TECHNOLOGY USED</vt:lpstr>
      <vt:lpstr>Results</vt:lpstr>
      <vt:lpstr>Results</vt:lpstr>
      <vt:lpstr>Results</vt:lpstr>
      <vt:lpstr>Results</vt:lpstr>
      <vt:lpstr>Results</vt:lpstr>
      <vt:lpstr>FUTURE SCOPE</vt:lpstr>
      <vt:lpstr>GITHUB LINK</vt:lpstr>
      <vt:lpstr>VOIS COURSE COMPLETION CERTIFICATE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Sai Nath Reddy</cp:lastModifiedBy>
  <cp:revision>114</cp:revision>
  <dcterms:created xsi:type="dcterms:W3CDTF">2021-07-11T13:13:15Z</dcterms:created>
  <dcterms:modified xsi:type="dcterms:W3CDTF">2026-09-08T09:58:00Z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