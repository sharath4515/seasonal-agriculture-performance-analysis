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1" d="100"/>
          <a:sy n="71" d="100"/>
        </p:scale>
        <p:origin x="612" y="60"/>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88258" y="3583914"/>
            <a:ext cx="5298142" cy="861497"/>
          </a:xfrm>
        </p:spPr>
        <p:txBody>
          <a:bodyPr vert="horz" wrap="square" lIns="91440" tIns="45720" rIns="91440" bIns="45720" rtlCol="0" anchor="t">
            <a:normAutofit fontScale="77500" lnSpcReduction="20000"/>
          </a:bodyPr>
          <a:lstStyle/>
          <a:p>
            <a:pPr algn="l"/>
            <a:r>
              <a:rPr lang="en-US" sz="2200" b="0" dirty="0" err="1">
                <a:solidFill>
                  <a:srgbClr val="1E1E1E"/>
                </a:solidFill>
              </a:rPr>
              <a:t>Tanagala</a:t>
            </a:r>
            <a:r>
              <a:rPr lang="en-US" sz="2200" b="0" dirty="0">
                <a:solidFill>
                  <a:srgbClr val="1E1E1E"/>
                </a:solidFill>
              </a:rPr>
              <a:t> Sharath Kumar Reddy</a:t>
            </a:r>
            <a:r>
              <a:rPr sz="2200" b="0" dirty="0">
                <a:solidFill>
                  <a:srgbClr val="1E1E1E"/>
                </a:solidFill>
              </a:rPr>
              <a:t>
</a:t>
            </a:r>
            <a:r>
              <a:rPr lang="en-US" sz="2200" b="0" dirty="0" err="1">
                <a:solidFill>
                  <a:srgbClr val="1E1E1E"/>
                </a:solidFill>
              </a:rPr>
              <a:t>G.Pullaiah</a:t>
            </a:r>
            <a:r>
              <a:rPr lang="en-US" sz="2200" b="0" dirty="0">
                <a:solidFill>
                  <a:srgbClr val="1E1E1E"/>
                </a:solidFill>
              </a:rPr>
              <a:t> College Of Engineering and Technology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726701"/>
            <a:ext cx="4998720" cy="861497"/>
          </a:xfrm>
        </p:spPr>
        <p:txBody>
          <a:bodyPr wrap="square">
            <a:normAutofit fontScale="90000"/>
          </a:bodyPr>
          <a:lstStyle/>
          <a:p>
            <a:pPr algn="l"/>
            <a:r>
              <a:rPr sz="2800" b="1" dirty="0">
                <a:solidFill>
                  <a:srgbClr val="225799"/>
                </a:solidFill>
              </a:rPr>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656293"/>
            <a:ext cx="4004559" cy="307777"/>
          </a:xfrm>
          <a:prstGeom prst="rect">
            <a:avLst/>
          </a:prstGeom>
          <a:noFill/>
        </p:spPr>
        <p:txBody>
          <a:bodyPr wrap="square" rtlCol="0">
            <a:spAutoFit/>
          </a:bodyPr>
          <a:lstStyle/>
          <a:p>
            <a:pPr algn="l"/>
            <a:r>
              <a:rPr sz="1400" b="1" dirty="0">
                <a:solidFill>
                  <a:srgbClr val="1E1E1E"/>
                </a:solidFill>
              </a:rPr>
              <a:t>AICTE STU ID: </a:t>
            </a:r>
            <a:r>
              <a:rPr lang="en-IN" sz="1400" dirty="0"/>
              <a:t>STU672cb1436a2c11730982211</a:t>
            </a:r>
            <a:endParaRPr sz="1400" b="1" dirty="0">
              <a:solidFill>
                <a:srgbClr val="1E1E1E"/>
              </a:solidFill>
            </a:endParaRP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36764" y="2219134"/>
            <a:ext cx="6431280" cy="3805148"/>
          </a:xfrm>
        </p:spPr>
        <p:txBody>
          <a:bodyPr vert="horz" wrap="square" lIns="91440" tIns="45720" rIns="91440" bIns="45720" rtlCol="0" anchor="t">
            <a:normAutofit/>
          </a:bodyPr>
          <a:lstStyle/>
          <a:p>
            <a:pPr algn="l">
              <a:lnSpc>
                <a:spcPct val="100000"/>
              </a:lnSpc>
            </a:pPr>
            <a:r>
              <a:rPr sz="1700" dirty="0">
                <a:solidFill>
                  <a:srgbClr val="1E1E1E"/>
                </a:solidFill>
              </a:rPr>
              <a:t>Agricultural performance varies across seasons because of changes in weather, farming practices, resource availability and market conditions. Raw agricultural data alone does not clearly explain these variations.
This project analyzes seasonal agricultural data to identify meaningful patterns, trends, relationships and performance differences across crops, regions and time periods.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550417"/>
            <a:ext cx="6995604" cy="790111"/>
          </a:xfrm>
        </p:spPr>
        <p:txBody>
          <a:bodyPr wrap="square">
            <a:normAutofit fontScale="90000"/>
          </a:bodyPr>
          <a:lstStyle/>
          <a:p>
            <a:pPr algn="l"/>
            <a:r>
              <a:rPr b="1">
                <a:solidFill>
                  <a:srgbClr val="225799"/>
                </a:solidFill>
              </a:rPr>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wrap="square">
            <a:normAutofit fontScale="90000"/>
          </a:bodyPr>
          <a:lstStyle/>
          <a:p>
            <a:pPr algn="l"/>
            <a:r>
              <a:rPr sz="1800">
                <a:solidFill>
                  <a:srgbClr val="1E1E1E"/>
                </a:solidFill>
              </a:rPr>
              <a:t>The project uses data visualization and exploratory analysis to study how agricultural performance changes across seasons. The workflow includes data preparation, descriptive analysis, seasonal comparison, visual storytelling and insight generation.
The final output is designed to help users understand agricultural trends quickly and support evidence-based planning.</a:t>
            </a: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wrap="square">
            <a:normAutofit/>
          </a:bodyPr>
          <a:lstStyle/>
          <a:p>
            <a:pPr algn="just">
              <a:lnSpc>
                <a:spcPct val="150000"/>
              </a:lnSpc>
              <a:spcAft>
                <a:spcPts val="800"/>
              </a:spcAft>
              <a:defRPr sz="1700">
                <a:solidFill>
                  <a:srgbClr val="1E1E1E"/>
                </a:solidFill>
              </a:defRPr>
            </a:pPr>
            <a:r>
              <a:t>Farmers and agricultural producers - compare seasonal performance and identify favorable conditions</a:t>
            </a:r>
            <a:endParaRPr lang="en-IN" sz="3600" dirty="0"/>
          </a:p>
          <a:p>
            <a:pPr>
              <a:spcAft>
                <a:spcPts val="800"/>
              </a:spcAft>
              <a:defRPr sz="1700">
                <a:solidFill>
                  <a:srgbClr val="1E1E1E"/>
                </a:solidFill>
              </a:defRPr>
            </a:pPr>
            <a:r>
              <a:t>Agricultural officers and extension teams - communicate trends and prioritize interventions</a:t>
            </a:r>
          </a:p>
          <a:p>
            <a:pPr>
              <a:spcAft>
                <a:spcPts val="800"/>
              </a:spcAft>
              <a:defRPr sz="1700">
                <a:solidFill>
                  <a:srgbClr val="1E1E1E"/>
                </a:solidFill>
              </a:defRPr>
            </a:pPr>
            <a:r>
              <a:t>Researchers and students - explore relationships among crops, seasons and performance measures</a:t>
            </a:r>
          </a:p>
          <a:p>
            <a:pPr>
              <a:spcAft>
                <a:spcPts val="800"/>
              </a:spcAft>
              <a:defRPr sz="1700">
                <a:solidFill>
                  <a:srgbClr val="1E1E1E"/>
                </a:solidFill>
              </a:defRPr>
            </a:pPr>
            <a:r>
              <a:t>Policy makers and planners - support data-driven resource allocation and agricultural programs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wrap="square">
            <a:normAutofit fontScale="90000"/>
          </a:bodyPr>
          <a:lstStyle/>
          <a:p>
            <a:pPr algn="l"/>
            <a:r>
              <a:rPr b="1">
                <a:solidFill>
                  <a:srgbClr val="225799"/>
                </a:solidFill>
              </a:rPr>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667434" y="1432560"/>
            <a:ext cx="7750885" cy="5243448"/>
          </a:xfrm>
        </p:spPr>
        <p:txBody>
          <a:bodyPr wrap="square"/>
          <a:lstStyle/>
          <a:p>
            <a:pPr>
              <a:lnSpc>
                <a:spcPct val="150000"/>
              </a:lnSpc>
              <a:spcAft>
                <a:spcPts val="800"/>
              </a:spcAft>
              <a:defRPr sz="1800">
                <a:solidFill>
                  <a:srgbClr val="1E1E1E"/>
                </a:solidFill>
              </a:defRPr>
            </a:pPr>
            <a:r>
              <a:rPr dirty="0"/>
              <a:t>Python for data preparation and analysis</a:t>
            </a:r>
            <a:endParaRPr lang="en-IN" dirty="0"/>
          </a:p>
          <a:p>
            <a:pPr>
              <a:spcAft>
                <a:spcPts val="800"/>
              </a:spcAft>
              <a:defRPr sz="1800">
                <a:solidFill>
                  <a:srgbClr val="1E1E1E"/>
                </a:solidFill>
              </a:defRPr>
            </a:pPr>
            <a:r>
              <a:rPr dirty="0"/>
              <a:t>Pandas and NumPy for data wrangling</a:t>
            </a:r>
          </a:p>
          <a:p>
            <a:pPr>
              <a:spcAft>
                <a:spcPts val="800"/>
              </a:spcAft>
              <a:defRPr sz="1800">
                <a:solidFill>
                  <a:srgbClr val="1E1E1E"/>
                </a:solidFill>
              </a:defRPr>
            </a:pPr>
            <a:r>
              <a:rPr dirty="0"/>
              <a:t>Matplotlib and Seaborn for visual exploration</a:t>
            </a:r>
          </a:p>
          <a:p>
            <a:pPr>
              <a:spcAft>
                <a:spcPts val="800"/>
              </a:spcAft>
              <a:defRPr sz="1800">
                <a:solidFill>
                  <a:srgbClr val="1E1E1E"/>
                </a:solidFill>
              </a:defRPr>
            </a:pPr>
            <a:r>
              <a:rPr dirty="0" err="1"/>
              <a:t>Jupyter</a:t>
            </a:r>
            <a:r>
              <a:rPr dirty="0"/>
              <a:t> Notebook for reproducible analysis</a:t>
            </a:r>
          </a:p>
          <a:p>
            <a:pPr>
              <a:spcAft>
                <a:spcPts val="800"/>
              </a:spcAft>
              <a:defRPr sz="1800">
                <a:solidFill>
                  <a:srgbClr val="1E1E1E"/>
                </a:solidFill>
              </a:defRPr>
            </a:pPr>
            <a:r>
              <a:rPr dirty="0"/>
              <a:t>PowerPoint for communicating insights and recommendations</a:t>
            </a:r>
          </a:p>
          <a:p>
            <a:pPr>
              <a:spcAft>
                <a:spcPts val="800"/>
              </a:spcAft>
              <a:defRPr sz="1800">
                <a:solidFill>
                  <a:srgbClr val="1E1E1E"/>
                </a:solidFill>
              </a:defRPr>
            </a:pPr>
            <a:r>
              <a:rPr dirty="0"/>
              <a:t>GitHub for version control and project sharing</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wrap="square">
            <a:normAutofit fontScale="90000"/>
          </a:bodyPr>
          <a:lstStyle/>
          <a:p>
            <a:pPr algn="l"/>
            <a:r>
              <a:rPr b="1">
                <a:solidFill>
                  <a:srgbClr val="225799"/>
                </a:solidFill>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4030514" cy="830997"/>
          </a:xfrm>
        </p:spPr>
        <p:txBody>
          <a:bodyPr wrap="square">
            <a:normAutofit fontScale="90000"/>
          </a:bodyPr>
          <a:lstStyle/>
          <a:p>
            <a:pPr algn="l"/>
            <a:r>
              <a:rPr b="1" dirty="0">
                <a:solidFill>
                  <a:srgbClr val="225799"/>
                </a:solidFill>
              </a:rPr>
              <a:t>SEASONAL COMPARISON</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2496370"/>
            <a:ext cx="4546853" cy="2142865"/>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endParaRPr lang="en-GB" sz="2000" dirty="0"/>
          </a:p>
        </p:txBody>
      </p:sp>
      <p:pic>
        <p:nvPicPr>
          <p:cNvPr id="3" name="Picture 2">
            <a:extLst>
              <a:ext uri="{FF2B5EF4-FFF2-40B4-BE49-F238E27FC236}">
                <a16:creationId xmlns:a16="http://schemas.microsoft.com/office/drawing/2014/main" id="{98D7D4F3-445B-407D-B3FA-51CB4CFDA7CD}"/>
              </a:ext>
            </a:extLst>
          </p:cNvPr>
          <p:cNvPicPr>
            <a:picLocks noChangeAspect="1"/>
          </p:cNvPicPr>
          <p:nvPr/>
        </p:nvPicPr>
        <p:blipFill>
          <a:blip r:embed="rId3"/>
          <a:stretch>
            <a:fillRect/>
          </a:stretch>
        </p:blipFill>
        <p:spPr>
          <a:xfrm>
            <a:off x="320982" y="2151530"/>
            <a:ext cx="8173591" cy="3039036"/>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6" y="370589"/>
            <a:ext cx="5420043" cy="830997"/>
          </a:xfrm>
        </p:spPr>
        <p:txBody>
          <a:bodyPr wrap="square">
            <a:normAutofit fontScale="90000"/>
          </a:bodyPr>
          <a:lstStyle/>
          <a:p>
            <a:pPr algn="l"/>
            <a:r>
              <a:rPr b="1" dirty="0">
                <a:solidFill>
                  <a:srgbClr val="225799"/>
                </a:solidFill>
              </a:rPr>
              <a:t>CROP AND REGION</a:t>
            </a:r>
            <a:r>
              <a:rPr lang="en-US" b="1" dirty="0">
                <a:solidFill>
                  <a:srgbClr val="225799"/>
                </a:solidFill>
              </a:rPr>
              <a:t>AL</a:t>
            </a:r>
            <a:r>
              <a:rPr b="1" dirty="0">
                <a:solidFill>
                  <a:srgbClr val="225799"/>
                </a:solidFill>
              </a:rPr>
              <a:t> ANALYSIS</a:t>
            </a:r>
            <a:endParaRPr lang="en-IN"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578224" y="2218765"/>
            <a:ext cx="8673352" cy="3429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b="1" dirty="0"/>
              <a:t>Location Analysis</a:t>
            </a:r>
            <a:br>
              <a:rPr lang="en-US" sz="2000" dirty="0"/>
            </a:br>
            <a:r>
              <a:rPr lang="en-US" sz="2000" dirty="0"/>
              <a:t>Compared agricultural performance across different states and seasons to identify regional variations.</a:t>
            </a:r>
          </a:p>
          <a:p>
            <a:r>
              <a:rPr lang="en-US" sz="2000" b="1" dirty="0"/>
              <a:t>Strong &amp; Weak Segments</a:t>
            </a:r>
            <a:br>
              <a:rPr lang="en-US" sz="2000" dirty="0"/>
            </a:br>
            <a:r>
              <a:rPr lang="en-US" sz="2000" dirty="0"/>
              <a:t>Identified higher- and lower-performing crops and regions based on seasonal performance.</a:t>
            </a:r>
          </a:p>
          <a:p>
            <a:r>
              <a:rPr lang="en-US" sz="2000" b="1" dirty="0"/>
              <a:t>Targeted Planning</a:t>
            </a:r>
            <a:br>
              <a:rPr lang="en-US" sz="2000" dirty="0"/>
            </a:br>
            <a:r>
              <a:rPr lang="en-US" sz="2000" dirty="0"/>
              <a:t>Supports crop- and region-specific strategies for more effective seasonal agricultural planning.</a:t>
            </a:r>
          </a:p>
          <a:p>
            <a:pPr>
              <a:spcAft>
                <a:spcPts val="800"/>
              </a:spcAft>
              <a:defRPr sz="1700">
                <a:solidFill>
                  <a:srgbClr val="1E1E1E"/>
                </a:solidFill>
              </a:defRPr>
            </a:pPr>
            <a:endParaRPr lang="en-GB" sz="2000"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7069549" cy="830997"/>
          </a:xfrm>
        </p:spPr>
        <p:txBody>
          <a:bodyPr wrap="square">
            <a:normAutofit fontScale="90000"/>
          </a:bodyPr>
          <a:lstStyle/>
          <a:p>
            <a:pPr algn="l"/>
            <a:r>
              <a:rPr b="1" dirty="0">
                <a:solidFill>
                  <a:srgbClr val="225799"/>
                </a:solidFill>
              </a:rPr>
              <a:t>TREND AND RELATIONSHIP ANALYSIS</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2022324"/>
            <a:ext cx="8769230" cy="28993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b="1" dirty="0"/>
              <a:t>Trend Analysis</a:t>
            </a:r>
            <a:br>
              <a:rPr lang="en-US" sz="2000" dirty="0"/>
            </a:br>
            <a:r>
              <a:rPr lang="en-US" sz="2000" dirty="0"/>
              <a:t>Compared agricultural performance across Kharif, Rabi, and Zaid seasons to identify seasonal patterns.</a:t>
            </a:r>
          </a:p>
          <a:p>
            <a:r>
              <a:rPr lang="en-US" sz="2000" b="1" dirty="0"/>
              <a:t>Relationship Analysis</a:t>
            </a:r>
            <a:br>
              <a:rPr lang="en-US" sz="2000" dirty="0"/>
            </a:br>
            <a:r>
              <a:rPr lang="en-US" sz="2000" dirty="0"/>
              <a:t>Examined relationships between environmental, resource, productivity, and economic variables using correlation analysis.</a:t>
            </a:r>
          </a:p>
          <a:p>
            <a:pPr>
              <a:spcAft>
                <a:spcPts val="800"/>
              </a:spcAft>
              <a:defRPr sz="1700">
                <a:solidFill>
                  <a:srgbClr val="1E1E1E"/>
                </a:solidFill>
              </a:defRPr>
            </a:pPr>
            <a:endParaRPr lang="en-GB" sz="2000"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wrap="square">
            <a:normAutofit fontScale="90000"/>
          </a:bodyPr>
          <a:lstStyle/>
          <a:p>
            <a:pPr algn="l"/>
            <a:r>
              <a:rPr b="1">
                <a:solidFill>
                  <a:srgbClr val="225799"/>
                </a:solidFill>
              </a:rPr>
              <a:t>KEY INSIGHTS</a:t>
            </a:r>
            <a:endParaRPr lang="en-IN"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675957" y="2030506"/>
            <a:ext cx="8414255" cy="4343400"/>
          </a:xfrm>
        </p:spPr>
        <p:txBody>
          <a:bodyPr wrap="square">
            <a:normAutofit fontScale="70000" lnSpcReduction="20000"/>
          </a:bodyPr>
          <a:lstStyle/>
          <a:p>
            <a:pPr marL="0" indent="0">
              <a:buNone/>
            </a:pPr>
            <a:r>
              <a:rPr lang="en-US" b="1" dirty="0"/>
              <a:t>Key Findings:</a:t>
            </a:r>
            <a:br>
              <a:rPr lang="en-US" dirty="0"/>
            </a:br>
            <a:r>
              <a:rPr lang="en-US" dirty="0"/>
              <a:t>The analysis of 4,000 agricultural observations across Kharif, Rabi, and Zaid seasons produced the following key findings:1. **Seasonal performance differs descriptively:** Kharif recorded the highest average yield at 5.63 </a:t>
            </a:r>
            <a:r>
              <a:rPr lang="en-US" dirty="0" err="1"/>
              <a:t>tonnes</a:t>
            </a:r>
            <a:r>
              <a:rPr lang="en-US" dirty="0"/>
              <a:t>/ha, followed by Rabi at 5.04 </a:t>
            </a:r>
            <a:r>
              <a:rPr lang="en-US" dirty="0" err="1"/>
              <a:t>tonnes</a:t>
            </a:r>
            <a:r>
              <a:rPr lang="en-US" dirty="0"/>
              <a:t>/ha and Zaid at 4.64 </a:t>
            </a:r>
            <a:r>
              <a:rPr lang="en-US" dirty="0" err="1"/>
              <a:t>tonnes</a:t>
            </a:r>
            <a:r>
              <a:rPr lang="en-US" dirty="0"/>
              <a:t>/ha.2. **Environmental conditions vary considerably across seasons:** Kharif had the highest rainfall, humidity, and soil moisture, while Zaid had the highest temperature and sunlight and the lowest rainfall, humidity, and soil moisture.3. **Water usage varies across seasons:** Zaid recorded the highest average water usage at 6,419.89 m³, while Rabi recorded the lowest at 5,846.99 m³.4. **Resource usage is relatively similar:** Nitrogen, phosphorus, potassium, fertilizer, and pesticide usage showed only relatively small differences across seasons.5. **Irrigation methods are broadly similar:** Flood irrigation was the most common method in all three seasons. The overall distribution of irrigation methods did not show major seasonal differences.6. **Economic performance shows substantial seasonal variation:** Kharif recorded the highest average profit at approximately ₹178,915, while Zaid recorded a negative average profit of approximately ₹24,805.7. **Crop-wise analysis shows a consistent descriptive pattern:** Every crop recorded its highest average yield during Kharif and lowest average yield during Zaid.8. **Regional patterns are not uniform:** While several states recorded their highest yield during Kharif, Punjab performed best during Rabi and Karnataka recorded its highest average yield during Zaid.9. **Correlation analysis identified important relationships:** Yield had a strong positive correlation with production, while profit had a very strong positive correlation with revenue.10. **Statistical testing produced different conclusions for yield and profit:** ANOVA did not find a statistically significant difference in mean yield across seasons (p = 0.213678). However, ANOVA found a statistically significant difference in mean profit across seasons (F = 34.2918, p &lt; 0.001).11. **Tukey's HSD test confirmed pairwise profit differences:** Kharif, Rabi, and Zaid each differed significantly from the other seasons in terms of mean profit.</a:t>
            </a:r>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0" end="0"/>
                                            </p:txEl>
                                          </p:spTgt>
                                        </p:tgtEl>
                                        <p:attrNameLst>
                                          <p:attrName>style.visibility</p:attrName>
                                        </p:attrNameLst>
                                      </p:cBhvr>
                                      <p:to>
                                        <p:strVal val="visible"/>
                                      </p:to>
                                    </p:set>
                                    <p:animEffect transition="in" filter="fade">
                                      <p:cBhvr>
                                        <p:cTn id="14" dur="1000"/>
                                        <p:tgtEl>
                                          <p:spTgt spid="10">
                                            <p:txEl>
                                              <p:pRg st="0" end="0"/>
                                            </p:txEl>
                                          </p:spTgt>
                                        </p:tgtEl>
                                      </p:cBhvr>
                                    </p:animEffect>
                                    <p:anim calcmode="lin" valueType="num">
                                      <p:cBhvr>
                                        <p:cTn id="15"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5012149" cy="830997"/>
          </a:xfrm>
        </p:spPr>
        <p:txBody>
          <a:bodyPr wrap="square">
            <a:normAutofit fontScale="90000"/>
          </a:bodyPr>
          <a:lstStyle/>
          <a:p>
            <a:pPr algn="l"/>
            <a:r>
              <a:rPr b="1" dirty="0">
                <a:solidFill>
                  <a:srgbClr val="225799"/>
                </a:solidFill>
              </a:rPr>
              <a:t>DECISION SUPPORT OUTPUT</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2649071"/>
            <a:ext cx="4275138" cy="2111188"/>
          </a:xfrm>
          <a:prstGeom prst="rect">
            <a:avLst/>
          </a:prstGeom>
        </p:spPr>
        <p:txBody>
          <a:bodyPr vert="horz" wrap="square"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r>
              <a:rPr lang="en-US" sz="1700" dirty="0"/>
              <a:t>The analysis provides a concise visual overview of </a:t>
            </a:r>
            <a:r>
              <a:rPr lang="en-US" sz="1700" b="1" dirty="0"/>
              <a:t>seasonal performance</a:t>
            </a:r>
            <a:r>
              <a:rPr lang="en-US" sz="1700" dirty="0"/>
              <a:t>, making it easier to identify patterns across Kharif, Rabi, and Zaid. It also enables </a:t>
            </a:r>
            <a:r>
              <a:rPr lang="en-US" sz="1700" b="1" dirty="0"/>
              <a:t>clear comparisons across crops, regions, and time periods</a:t>
            </a:r>
            <a:r>
              <a:rPr lang="en-US" sz="1700" dirty="0"/>
              <a:t>, helping identify variations and relationships within the agricultural data.</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3428999"/>
            <a:ext cx="3343561" cy="685799"/>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r>
              <a:rPr dirty="0"/>
              <a:t>Reusable workflow for future agricultural datasets</a:t>
            </a:r>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4760259"/>
            <a:ext cx="4275138" cy="1317812"/>
          </a:xfrm>
        </p:spPr>
        <p:txBody>
          <a:bodyPr wrap="square">
            <a:normAutofit/>
          </a:bodyPr>
          <a:lstStyle/>
          <a:p>
            <a:pPr marL="0" indent="0" algn="l">
              <a:buNone/>
            </a:pPr>
            <a:r>
              <a:rPr sz="1500" dirty="0">
                <a:solidFill>
                  <a:srgbClr val="5A5A5A"/>
                </a:solidFill>
              </a:rPr>
              <a:t>Visuals include seasonal comparison charts, crop/region comparisons and trend plots generated during analysis.</a:t>
            </a:r>
            <a:endParaRPr lang="en-IN" dirty="0"/>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wrap="square">
            <a:normAutofit/>
          </a:bodyPr>
          <a:lstStyle/>
          <a:p>
            <a:pPr algn="l"/>
            <a:r>
              <a:rPr b="1">
                <a:solidFill>
                  <a:srgbClr val="225799"/>
                </a:solidFill>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2729" y="1290918"/>
            <a:ext cx="3341814" cy="2998693"/>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endParaRPr dirty="0"/>
          </a:p>
        </p:txBody>
      </p:sp>
      <p:pic>
        <p:nvPicPr>
          <p:cNvPr id="3" name="Picture 2">
            <a:extLst>
              <a:ext uri="{FF2B5EF4-FFF2-40B4-BE49-F238E27FC236}">
                <a16:creationId xmlns:a16="http://schemas.microsoft.com/office/drawing/2014/main" id="{07B31A52-BF9B-43A4-AA6D-54653FFC02A8}"/>
              </a:ext>
            </a:extLst>
          </p:cNvPr>
          <p:cNvPicPr>
            <a:picLocks noChangeAspect="1"/>
          </p:cNvPicPr>
          <p:nvPr/>
        </p:nvPicPr>
        <p:blipFill>
          <a:blip r:embed="rId3"/>
          <a:stretch>
            <a:fillRect/>
          </a:stretch>
        </p:blipFill>
        <p:spPr>
          <a:xfrm>
            <a:off x="524436" y="1201585"/>
            <a:ext cx="8686800" cy="4957167"/>
          </a:xfrm>
          <a:prstGeom prst="rect">
            <a:avLst/>
          </a:prstGeom>
        </p:spPr>
      </p:pic>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wrap="square">
            <a:normAutofit/>
          </a:bodyPr>
          <a:lstStyle/>
          <a:p>
            <a:pPr algn="l"/>
            <a:r>
              <a:rPr b="1">
                <a:solidFill>
                  <a:srgbClr val="225799"/>
                </a:solidFill>
              </a:rPr>
              <a:t>GITHUB LINK</a:t>
            </a:r>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584775"/>
          </a:xfrm>
          <a:prstGeom prst="rect">
            <a:avLst/>
          </a:prstGeom>
          <a:noFill/>
        </p:spPr>
        <p:txBody>
          <a:bodyPr wrap="square">
            <a:spAutoFit/>
          </a:bodyPr>
          <a:lstStyle/>
          <a:p>
            <a:pPr algn="l"/>
            <a:r>
              <a:rPr lang="en-IN" sz="1600" dirty="0">
                <a:solidFill>
                  <a:srgbClr val="225799"/>
                </a:solidFill>
              </a:rPr>
              <a:t>https://github.com/Sharath4515/Seasonal-Agriculture-Performance-Analysis/upload/main</a:t>
            </a:r>
            <a:endParaRPr sz="1600" dirty="0">
              <a:solidFill>
                <a:srgbClr val="225799"/>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79273"/>
          </a:xfrm>
        </p:spPr>
        <p:txBody>
          <a:bodyPr wrap="square">
            <a:normAutofit fontScale="90000"/>
          </a:bodyPr>
          <a:lstStyle/>
          <a:p>
            <a:pPr algn="l"/>
            <a:r>
              <a:rPr b="1" dirty="0">
                <a:solidFill>
                  <a:srgbClr val="225799"/>
                </a:solidFill>
              </a:rPr>
              <a:t>VOIS COURSE COMPLETION CERTIFICATE</a:t>
            </a:r>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874059" y="2259106"/>
            <a:ext cx="6815197" cy="2286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800">
                <a:solidFill>
                  <a:srgbClr val="1E1E1E"/>
                </a:solidFill>
              </a:defRPr>
            </a:pPr>
            <a:endParaRPr dirty="0"/>
          </a:p>
        </p:txBody>
      </p:sp>
      <p:pic>
        <p:nvPicPr>
          <p:cNvPr id="6" name="Picture 5">
            <a:extLst>
              <a:ext uri="{FF2B5EF4-FFF2-40B4-BE49-F238E27FC236}">
                <a16:creationId xmlns:a16="http://schemas.microsoft.com/office/drawing/2014/main" id="{7544EB8B-AE04-46CC-8EF9-D402F8546DF2}"/>
              </a:ext>
            </a:extLst>
          </p:cNvPr>
          <p:cNvPicPr>
            <a:picLocks noChangeAspect="1"/>
          </p:cNvPicPr>
          <p:nvPr/>
        </p:nvPicPr>
        <p:blipFill>
          <a:blip r:embed="rId3"/>
          <a:stretch>
            <a:fillRect/>
          </a:stretch>
        </p:blipFill>
        <p:spPr>
          <a:xfrm>
            <a:off x="497541" y="1653988"/>
            <a:ext cx="8767483" cy="4817932"/>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wrap="square" anchor="ctr">
            <a:normAutofit fontScale="90000"/>
          </a:bodyPr>
          <a:lstStyle/>
          <a:p>
            <a:pPr algn="ctr"/>
            <a:r>
              <a:rPr sz="4200" b="1">
                <a:solidFill>
                  <a:srgbClr val="225799"/>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309282" y="1927018"/>
            <a:ext cx="3896918" cy="1061672"/>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sz="1600" dirty="0" err="1">
                <a:solidFill>
                  <a:srgbClr val="1E1E1E"/>
                </a:solidFill>
              </a:rPr>
              <a:t>Tanagala</a:t>
            </a:r>
            <a:r>
              <a:rPr sz="1600" dirty="0">
                <a:solidFill>
                  <a:srgbClr val="1E1E1E"/>
                </a:solidFill>
              </a:rPr>
              <a:t> Sharath Kumar Reddy</a:t>
            </a:r>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94129" y="2354102"/>
            <a:ext cx="6001871" cy="647814"/>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lang="en-US" sz="1600" dirty="0">
                <a:solidFill>
                  <a:srgbClr val="1E1E1E"/>
                </a:solidFill>
              </a:rPr>
              <a:t> </a:t>
            </a:r>
            <a:r>
              <a:rPr lang="en-US" sz="1600" dirty="0" err="1">
                <a:solidFill>
                  <a:srgbClr val="1E1E1E"/>
                </a:solidFill>
              </a:rPr>
              <a:t>G.Pullaiah</a:t>
            </a:r>
            <a:r>
              <a:rPr lang="en-US" sz="1600" dirty="0">
                <a:solidFill>
                  <a:srgbClr val="1E1E1E"/>
                </a:solidFill>
              </a:rPr>
              <a:t> College Of Engineering and Technology</a:t>
            </a:r>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215154" y="2827325"/>
            <a:ext cx="5392270" cy="601675"/>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sz="1600" dirty="0">
                <a:solidFill>
                  <a:srgbClr val="1E1E1E"/>
                </a:solidFill>
              </a:rPr>
              <a:t>[reddysharath701@gmail.com / 8897986952]</a:t>
            </a:r>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p:stCondLst>
                                    <p:cond delay="0"/>
                                  </p:st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p:stCondLst>
                                    <p:cond delay="0"/>
                                  </p:st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1427</TotalTime>
  <Words>845</Words>
  <Application>Microsoft Office PowerPoint</Application>
  <PresentationFormat>Widescreen</PresentationFormat>
  <Paragraphs>43</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vt:lpstr>
      <vt:lpstr>PROBLEM STATEMENT</vt:lpstr>
      <vt:lpstr>The project uses data visualization and exploratory analysis to study how agricultural performance changes across seasons. The workflow includes data preparation, descriptive analysis, seasonal comparison, visual storytelling and insight generation.
The final output is designed to help users understand agricultural trends quickly and support evidence-based planning.</vt:lpstr>
      <vt:lpstr>WHO ARE THE END USERS?</vt:lpstr>
      <vt:lpstr>TECHNOLOGY USED</vt:lpstr>
      <vt:lpstr>SEASONAL COMPARISON</vt:lpstr>
      <vt:lpstr>CROP AND REGIONAL ANALYSIS</vt:lpstr>
      <vt:lpstr>TREND AND RELATIONSHIP ANALYSIS</vt:lpstr>
      <vt:lpstr>KEY INSIGHTS</vt:lpstr>
      <vt:lpstr>DECISION SUPPORT OUTPUT</vt:lpstr>
      <vt:lpstr>FUTURE SCOPE</vt:lpstr>
      <vt:lpstr>GITHUB LINK</vt:lpstr>
      <vt:lpstr>VOIS COURSE COMPLETION CERTIFICATE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Sai Nath Reddy</cp:lastModifiedBy>
  <cp:revision>105</cp:revision>
  <dcterms:created xsi:type="dcterms:W3CDTF">2021-07-11T13:13:15Z</dcterms:created>
  <dcterms:modified xsi:type="dcterms:W3CDTF">2026-09-05T16:05:45Z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